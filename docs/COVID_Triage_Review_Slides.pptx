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ICU admission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Radiom</c:v>
                  </c:pt>
                  <c:pt idx="1">
                    <c:v>RadiomClin</c:v>
                  </c:pt>
                  <c:pt idx="2">
                    <c:v>RadiomClinLab</c:v>
                  </c:pt>
                  <c:pt idx="3">
                    <c:v>ClinLab</c:v>
                  </c:pt>
                  <c:pt idx="4">
                    <c:v>RScore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0.717</c:v>
                </c:pt>
                <c:pt idx="1">
                  <c:v>0.765</c:v>
                </c:pt>
                <c:pt idx="2">
                  <c:v>0.77</c:v>
                </c:pt>
                <c:pt idx="3">
                  <c:v>0.822</c:v>
                </c:pt>
                <c:pt idx="4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Mechanical ventilation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Radiom</c:v>
                  </c:pt>
                  <c:pt idx="1">
                    <c:v>RadiomClin</c:v>
                  </c:pt>
                  <c:pt idx="2">
                    <c:v>RadiomClinLab</c:v>
                  </c:pt>
                  <c:pt idx="3">
                    <c:v>ClinLab</c:v>
                  </c:pt>
                  <c:pt idx="4">
                    <c:v>RScore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0.685</c:v>
                </c:pt>
                <c:pt idx="1">
                  <c:v>0.778</c:v>
                </c:pt>
                <c:pt idx="2">
                  <c:v>0.788</c:v>
                </c:pt>
                <c:pt idx="3">
                  <c:v>0.847</c:v>
                </c:pt>
                <c:pt idx="4">
                  <c:v>0.431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Death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Radiom</c:v>
                  </c:pt>
                  <c:pt idx="1">
                    <c:v>RadiomClin</c:v>
                  </c:pt>
                  <c:pt idx="2">
                    <c:v>RadiomClinLab</c:v>
                  </c:pt>
                  <c:pt idx="3">
                    <c:v>ClinLab</c:v>
                  </c:pt>
                  <c:pt idx="4">
                    <c:v>RScore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0.652</c:v>
                </c:pt>
                <c:pt idx="1">
                  <c:v>0.804</c:v>
                </c:pt>
                <c:pt idx="2">
                  <c:v>0.865</c:v>
                </c:pt>
                <c:pt idx="3">
                  <c:v>0.895</c:v>
                </c:pt>
                <c:pt idx="4">
                  <c:v>0.7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D9E2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2A34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B2A34"/>
                    </a:solidFill>
                    <a:latin typeface="+mn-lt"/>
                  </a:rPr>
                  <a:t>AUROC, cohort 2 (bootstrap mean)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3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this as a worked example of a full submission: repo, write-up, slides, live demo. Stress that the data is synthetic and that the point is the method and the standards, not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Zhan and Li, Stanford CS229 2020. Ask students why rare outcomes make accuracy a misleading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generator lives in src/generate_synthetic_data.py. Be explicit that metrics on synthetic data are not clinically meaningful. A real submission would use a real public dataset and justify the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SMOTEENN inside an imblearn Pipeline: resampling must happen only on training folds, otherwise synthetic points leak into validation and inflate scores. Ask students where leakage could creep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repo on screen. Point out the commit history, a clear README and no data or secrets committed beyond the synthetic CSV. Repository maintenance is graded.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bootstrap means from results/table3_bootstrap_summary.csv. In the synthetic generator, labs are a cleaner readout of the latent severity than radiomics, and with few positives, 100 extra noisy features hurt. The RScore ventilation model scored 0.43, below chance: a flexible model overfitting 47 positives.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is the precision-recall plot more informative than ROC when only 2-8% of patients are positive?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bullet is a genuine limitation worth discussing: the bootstrap resamples the test patients but not the training process, so these p-values are optimistic.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to the grading criteria: individual contribution and Q&amp;A reward understanding, not just working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demo.py live. Expected: eight patients ranked by predicted ICU risk next to the true label.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Faculty sample - synthetic data, not for clinical 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CT-based Patient Triage of COVID-19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Radiomics prediction of ICU admission, mechanical ventilation and death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UE24CS352A Machine Learning - Mini-Project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Faculty sample solution for students  |  synthetic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who needs intensive care?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admission, predict three outcomes: ICU admission, mechanical ventilation (MV), in-hospital death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Inputs: CT radiomics, clinical features, lab results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Why it matters: allocate limited ICU resources to high-risk patients first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Why it is hard: outcomes are rare (about 2-8% of patients)</a:t>
            </a:r>
            <a:endParaRPr lang="en-US" sz="1600" dirty="0"/>
          </a:p>
        </p:txBody>
      </p:sp>
      <p:sp>
        <p:nvSpPr>
          <p:cNvPr id="4" name="stat-card-0"/>
          <p:cNvSpPr/>
          <p:nvPr/>
        </p:nvSpPr>
        <p:spPr>
          <a:xfrm>
            <a:off x="5760720" y="1280160"/>
            <a:ext cx="29260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897880" y="12801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outcomes</a:t>
            </a:r>
            <a:endParaRPr lang="en-US" sz="1600" dirty="0"/>
          </a:p>
        </p:txBody>
      </p:sp>
      <p:sp>
        <p:nvSpPr>
          <p:cNvPr id="7" name="stat-card-1"/>
          <p:cNvSpPr/>
          <p:nvPr/>
        </p:nvSpPr>
        <p:spPr>
          <a:xfrm>
            <a:off x="5760720" y="2331720"/>
            <a:ext cx="29260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97880" y="23317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331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data configurations</a:t>
            </a:r>
            <a:endParaRPr lang="en-US" sz="1600" dirty="0"/>
          </a:p>
        </p:txBody>
      </p:sp>
      <p:sp>
        <p:nvSpPr>
          <p:cNvPr id="10" name="stat-card-2"/>
          <p:cNvSpPr/>
          <p:nvPr/>
        </p:nvSpPr>
        <p:spPr>
          <a:xfrm>
            <a:off x="5760720" y="3383280"/>
            <a:ext cx="29260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97880" y="33832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3832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two cohorts, split by admission period</a:t>
            </a:r>
            <a:endParaRPr lang="en-US" sz="3000" dirty="0"/>
          </a:p>
        </p:txBody>
      </p:sp>
      <p:sp>
        <p:nvSpPr>
          <p:cNvPr id="3" name="cohort-card-0"/>
          <p:cNvSpPr/>
          <p:nvPr/>
        </p:nvSpPr>
        <p:spPr>
          <a:xfrm>
            <a:off x="457200" y="1280160"/>
            <a:ext cx="40233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1,662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Cohort 1: development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ICU 93 | MV 47 | death 31</a:t>
            </a:r>
            <a:endParaRPr lang="en-US" sz="1600" dirty="0"/>
          </a:p>
        </p:txBody>
      </p:sp>
      <p:sp>
        <p:nvSpPr>
          <p:cNvPr id="6" name="cohort-card-1"/>
          <p:cNvSpPr/>
          <p:nvPr/>
        </p:nvSpPr>
        <p:spPr>
          <a:xfrm>
            <a:off x="4663440" y="1280160"/>
            <a:ext cx="40233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Cohort 2: external validation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ICU 57 | MV 45 | death 32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114 features: 100 radiomics, 7 clinical, 7 labs, plus a 0-4 radiologist score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paper's hospital data is private, so this sample uses synthetic data with the same structure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Cohort 2 has a mild covariate shift, like a later admission period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select on training data only</a:t>
            </a:r>
            <a:endParaRPr lang="en-US" sz="3000" dirty="0"/>
          </a:p>
        </p:txBody>
      </p:sp>
      <p:sp>
        <p:nvSpPr>
          <p:cNvPr id="3" name="step-card-0"/>
          <p:cNvSpPr/>
          <p:nvPr/>
        </p:nvSpPr>
        <p:spPr>
          <a:xfrm>
            <a:off x="457200" y="137160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" name="step-badge-0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Split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Cohort 1: 70% train / 30% test</a:t>
            </a:r>
            <a:endParaRPr lang="en-US" sz="1400" dirty="0"/>
          </a:p>
        </p:txBody>
      </p:sp>
      <p:sp>
        <p:nvSpPr>
          <p:cNvPr id="8" name="step-card-1"/>
          <p:cNvSpPr/>
          <p:nvPr/>
        </p:nvSpPr>
        <p:spPr>
          <a:xfrm>
            <a:off x="2542032" y="137160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step-badge-1"/>
          <p:cNvSpPr/>
          <p:nvPr/>
        </p:nvSpPr>
        <p:spPr>
          <a:xfrm>
            <a:off x="2679192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7919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Engineer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24231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weights, SMOTEENN, or SMOTEENN + LASSO</a:t>
            </a:r>
            <a:endParaRPr lang="en-US" sz="1400" dirty="0"/>
          </a:p>
        </p:txBody>
      </p:sp>
      <p:sp>
        <p:nvSpPr>
          <p:cNvPr id="13" name="step-card-2"/>
          <p:cNvSpPr/>
          <p:nvPr/>
        </p:nvSpPr>
        <p:spPr>
          <a:xfrm>
            <a:off x="4626864" y="137160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step-badge-2"/>
          <p:cNvSpPr/>
          <p:nvPr/>
        </p:nvSpPr>
        <p:spPr>
          <a:xfrm>
            <a:off x="4764024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6402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Select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4231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models; best by 3-fold CV AUROC on train</a:t>
            </a:r>
            <a:endParaRPr lang="en-US" sz="1400" dirty="0"/>
          </a:p>
        </p:txBody>
      </p:sp>
      <p:sp>
        <p:nvSpPr>
          <p:cNvPr id="18" name="step-card-3"/>
          <p:cNvSpPr/>
          <p:nvPr/>
        </p:nvSpPr>
        <p:spPr>
          <a:xfrm>
            <a:off x="6711696" y="137160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step-badge-3"/>
          <p:cNvSpPr/>
          <p:nvPr/>
        </p:nvSpPr>
        <p:spPr>
          <a:xfrm>
            <a:off x="6848856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4885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48856" y="24231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Refit on cohort 1; test on cohort 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Bootstrap: 30 resamples of cohort 2, 95% intervals, paired one-sided t-tests. Deliberate improvement on the paper, which picked models on the 30% test split.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and how to run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Python: scikit-learn, imbalanced-learn, LightGBM, SciPy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pipeline.py runs everything end to end, seeded (about 5 minutes)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demo.py scores individual patients live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README: setup, run commands, layout</a:t>
            </a:r>
            <a:endParaRPr lang="en-US" sz="1600" dirty="0"/>
          </a:p>
        </p:txBody>
      </p:sp>
      <p:sp>
        <p:nvSpPr>
          <p:cNvPr id="4" name="code-card"/>
          <p:cNvSpPr/>
          <p:nvPr/>
        </p:nvSpPr>
        <p:spPr>
          <a:xfrm>
            <a:off x="4937760" y="1280160"/>
            <a:ext cx="3749040" cy="301752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20640" y="14173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src/generate_synthetic_data.py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src/pipeline.py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demo.py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ClinLab wins on every task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paper's headline (radiomics + clinical + labs best) did not replicate on synthetic data. Honest reporting is the lesson.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 on unseen patients (cohort 2)</a:t>
            </a:r>
            <a:endParaRPr lang="en-US" sz="3000" dirty="0"/>
          </a:p>
        </p:txBody>
      </p:sp>
      <p:pic>
        <p:nvPicPr>
          <p:cNvPr id="3" name="Image 0" descr="ROC and precision-recall curves on cohort 2 for each data configuration and outc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669280" cy="32707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28016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Top: ROC. Bottom: precision-recall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Precision-recall matters with rare outcomes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Wide wobble = few positives (32-57 per task)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statistics say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(AUROC)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Radiomics vs radiologist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clinical to radiomics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Paired one-sided t-tests over 30 bootstrap resamples: both comparisons significant (p&lt;0.001) in every task, except radiomics vs radiologist score for death on AUROC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Top features: age, neutrophils, D-dimer, dyspnea, plus a few radiomics features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Caveat: bootstrap p-values on one fixed test cohort understate uncertainty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takeaways</a:t>
            </a:r>
            <a:endParaRPr lang="en-US" sz="3000" dirty="0"/>
          </a:p>
        </p:txBody>
      </p:sp>
      <p:sp>
        <p:nvSpPr>
          <p:cNvPr id="3" name="concl-card-0"/>
          <p:cNvSpPr/>
          <p:nvPr/>
        </p:nvSpPr>
        <p:spPr>
          <a:xfrm>
            <a:off x="457200" y="1234440"/>
            <a:ext cx="402336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held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Radiomics beat the radiologist score for ICU and MV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Clinical features add real value to radiomics</a:t>
            </a:r>
            <a:endParaRPr lang="en-US" sz="1500" dirty="0"/>
          </a:p>
        </p:txBody>
      </p:sp>
      <p:sp>
        <p:nvSpPr>
          <p:cNvPr id="6" name="concl-card-1"/>
          <p:cNvSpPr/>
          <p:nvPr/>
        </p:nvSpPr>
        <p:spPr>
          <a:xfrm>
            <a:off x="4663440" y="1234440"/>
            <a:ext cx="402336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not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Radiomics + clinical + labs was not best; ClinLab was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Few positives punish high-dimensional inputs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your own project: state data limits honestly, keep test data out of model selection, report intervals, and be ready to explain every 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python demo.py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Trains the ICU model on cohort 1, then scores unseen cohort 2 patients and ranks them by predicted risk.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age Teal">
  <a:themeElements>
    <a:clrScheme name="Triage Teal">
      <a:dk1>
        <a:srgbClr val="1B2A34"/>
      </a:dk1>
      <a:lt1>
        <a:srgbClr val="FFFFFF"/>
      </a:lt1>
      <a:dk2>
        <a:srgbClr val="0F3D4C"/>
      </a:dk2>
      <a:lt2>
        <a:srgbClr val="EAF3F4"/>
      </a:lt2>
      <a:accent1>
        <a:srgbClr val="0E7C86"/>
      </a:accent1>
      <a:accent2>
        <a:srgbClr val="E07A5F"/>
      </a:accent2>
      <a:accent3>
        <a:srgbClr val="3D5A80"/>
      </a:accent3>
      <a:accent4>
        <a:srgbClr val="81B29A"/>
      </a:accent4>
      <a:accent5>
        <a:srgbClr val="F2CC8F"/>
      </a:accent5>
      <a:accent6>
        <a:srgbClr val="6D6875"/>
      </a:accent6>
      <a:hlink>
        <a:srgbClr val="0E7C86"/>
      </a:hlink>
      <a:folHlink>
        <a:srgbClr val="6D6875"/>
      </a:folHlink>
    </a:clrScheme>
    <a:fontScheme name="Triage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CT-based Patient Triage of COVID-19 - sample review deck</dc:title>
  <dc:subject>PptxGenJS Presentation</dc:subject>
  <dc:creator>Faculty sample - UE24CS352A</dc:creator>
  <cp:lastModifiedBy>Faculty sample - UE24CS352A</cp:lastModifiedBy>
  <cp:revision>1</cp:revision>
  <dcterms:created xsi:type="dcterms:W3CDTF">2026-10-08T05:28:32Z</dcterms:created>
  <dcterms:modified xsi:type="dcterms:W3CDTF">2026-10-08T05:28:32Z</dcterms:modified>
</cp:coreProperties>
</file>